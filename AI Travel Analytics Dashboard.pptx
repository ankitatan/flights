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324DC-594F-4861-AE0A-7D114950DC80}" v="1" dt="2026-08-18T11:46:19.6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30833"/>
            <a:ext cx="3166169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604146"/>
            <a:ext cx="3419475" cy="8228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002333"/>
            <a:ext cx="5410363" cy="127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sz="4350" b="0" i="0" u="none">
                <a:solidFill>
                  <a:srgbClr val="FFFFFF"/>
                </a:solidFill>
                <a:latin typeface="Poppins ExtraBold"/>
              </a:rPr>
              <a:t>AI Travel Analytics</a:t>
            </a:r>
            <a:r>
              <a:t>
</a:t>
            </a:r>
            <a:r>
              <a:rPr sz="4350" b="0" i="0" u="none">
                <a:solidFill>
                  <a:srgbClr val="FFFFFF"/>
                </a:solidFill>
                <a:latin typeface="Poppins ExtraBold"/>
              </a:rPr>
              <a:t>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444180"/>
            <a:ext cx="80962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Plus Jakarta Sans"/>
              </a:rPr>
              <a:t>Flight Price &amp; Customer Satisfaction Prediction using Advanced Machine Learning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545133"/>
            <a:ext cx="178147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4766071"/>
            <a:ext cx="30103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oppins SemiBold"/>
              </a:rPr>
              <a:t>Ankita Taneja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5051821"/>
            <a:ext cx="28670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06B6D4"/>
                </a:solidFill>
                <a:latin typeface="Plus Jakarta Sans Medium"/>
              </a:rPr>
              <a:t>Python | Machine Learning | Streamlit | MLflow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91097"/>
            <a:ext cx="5324475" cy="248542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91097"/>
            <a:ext cx="5324475" cy="2485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1885" y="2943522"/>
            <a:ext cx="4495249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6B6D4"/>
                </a:solidFill>
                <a:latin typeface="Poppins"/>
              </a:rPr>
              <a:t>Dynamic Fare Volatility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3429297"/>
            <a:ext cx="4619625" cy="1294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Flight prices fluctuate dynamically based on demand, booking lead time, airline carrier, route complexity, and seasonal trends. Travelers struggle to determine optimal booking times, while airlines seek optimized revenue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7360" y="2943522"/>
            <a:ext cx="4495249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6B6D4"/>
                </a:solidFill>
                <a:latin typeface="Poppins"/>
              </a:rPr>
              <a:t>Passenger Experience Factors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429297"/>
            <a:ext cx="4619625" cy="1294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Customer satisfaction depends on multifaceted service metrics, including inflight amenities, flight leg room, delay duration, and check-in efficiency. Identifying key dissatisfaction drivers is vital for airline operational retention.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2995910"/>
            <a:ext cx="22413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2995910"/>
            <a:ext cx="22413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Executive Overview &amp; 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100965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11040"/>
            <a:ext cx="3498800" cy="24455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525" y="2611040"/>
            <a:ext cx="3498800" cy="24455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025" y="2611040"/>
            <a:ext cx="3498800" cy="24455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925365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668315"/>
            <a:ext cx="181897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F8FAFC"/>
                </a:solidFill>
                <a:latin typeface="Poppins"/>
              </a:rPr>
              <a:t>Price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077890"/>
            <a:ext cx="2946350" cy="66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Develop regression models to predict flight ticket prices accurately across multiple carriers and routes.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750" y="2925365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2750" y="3668315"/>
            <a:ext cx="204056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F8FAFC"/>
                </a:solidFill>
                <a:latin typeface="Poppins"/>
              </a:rPr>
              <a:t>Satisfaction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2750" y="4077890"/>
            <a:ext cx="2946350" cy="66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Build classification algorithms to predict passenger satisfaction status based on service ratings and flight factors.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8250" y="2925365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8250" y="3668315"/>
            <a:ext cx="188898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F8FAFC"/>
                </a:solidFill>
                <a:latin typeface="Poppins"/>
              </a:rPr>
              <a:t>Interactive MLOps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8250" y="4077890"/>
            <a:ext cx="2946350" cy="66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Track experiments seamlessly with MLflow and deliver an interactive web application built on Streamlit.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" y="3077765"/>
            <a:ext cx="1714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6575" y="3077765"/>
            <a:ext cx="2857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0650" y="3077765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Key Project Objectives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100965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790723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Dataset Architecture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110490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2590204"/>
            <a:ext cx="55149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06B6D4"/>
                </a:solidFill>
                <a:latin typeface="Plus Jakarta Sans"/>
              </a:rPr>
              <a:t>130,000+ Records Analyzed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066454"/>
            <a:ext cx="55149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Comprehensive dataset combining flight itinerary metrics and customer satisfaction survey benchmarks.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55826"/>
            <a:ext cx="52101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FFFFF"/>
                </a:solidFill>
                <a:latin typeface="Plus Jakarta Sans"/>
              </a:rPr>
              <a:t>Itinerary Attributes: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Airline, source/destination, departure/arrival times, duration, stops.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445198"/>
            <a:ext cx="52101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FFFFF"/>
                </a:solidFill>
                <a:latin typeface="Plus Jakarta Sans"/>
              </a:rPr>
              <a:t>Service Benchmarks: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Inflight wifi, seat comfort, food &amp; drink, online boarding ease.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789164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478535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010025"/>
            <a:ext cx="11029950" cy="28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310062"/>
            <a:ext cx="2426493" cy="15314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8794" y="2207121"/>
            <a:ext cx="2426493" cy="15314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6563" y="4310062"/>
            <a:ext cx="2426493" cy="127426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4332" y="2464296"/>
            <a:ext cx="2426493" cy="12742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0388" y="4510087"/>
            <a:ext cx="212776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6B6D4"/>
                </a:solidFill>
                <a:latin typeface="Poppins"/>
              </a:rPr>
              <a:t>01. Ingestion &amp;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5081587"/>
            <a:ext cx="2026443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Handling null values, duplicate removal, numerical scaling, and transformations.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8158" y="2407146"/>
            <a:ext cx="212776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6B6D4"/>
                </a:solidFill>
                <a:latin typeface="Poppins"/>
              </a:rPr>
              <a:t>02.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819" y="2978646"/>
            <a:ext cx="2026443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Extracting departure hours, total duration minutes, and categorical encoding.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5927" y="4510087"/>
            <a:ext cx="212776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6B6D4"/>
                </a:solidFill>
                <a:latin typeface="Poppins"/>
              </a:rPr>
              <a:t>03. MLflow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588" y="4824412"/>
            <a:ext cx="2026443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Hyperparameter evaluation across Random Forest &amp; XGBoost algorithms.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3696" y="2664321"/>
            <a:ext cx="212776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6B6D4"/>
                </a:solidFill>
                <a:latin typeface="Poppins"/>
              </a:rPr>
              <a:t>04. UI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4357" y="2978646"/>
            <a:ext cx="2026443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Building interactive Streamlit dashboard for real-time predictions.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Machine Learning Lifecycle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1025" y="100965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689496" y="391953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57266" y="391953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5035" y="391953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92804" y="391953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24062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5825" y="2455068"/>
            <a:ext cx="50196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FFFFF"/>
                </a:solidFill>
                <a:latin typeface="Plus Jakarta Sans"/>
              </a:rPr>
              <a:t>Temporal Extraction: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Extracted departure/arrival hours, minutes, and weekday metrics from raw timestamps.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3144440"/>
            <a:ext cx="50196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FFFFF"/>
                </a:solidFill>
                <a:latin typeface="Plus Jakarta Sans"/>
              </a:rPr>
              <a:t>Categorical Encoding: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One-Hot Encoding for airline carriers and Target Encoding for complex routes.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833812"/>
            <a:ext cx="50196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FFFFF"/>
                </a:solidFill>
                <a:latin typeface="Plus Jakarta Sans"/>
              </a:rPr>
              <a:t>Missing Value Imputation: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Treated missing survey values and capped fare outliers using IQR bounds.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4523184"/>
            <a:ext cx="50196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FFFFF"/>
                </a:solidFill>
                <a:latin typeface="Plus Jakarta Sans"/>
              </a:rPr>
              <a:t>Standardization: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Scaled numerical features to maintain pipeline consistency across models.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33587"/>
            <a:ext cx="5305425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488406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177778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867150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556521"/>
            <a:ext cx="17145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Data Preprocessing &amp; Feature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" y="100965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38437"/>
            <a:ext cx="4632573" cy="219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3128962"/>
            <a:ext cx="3851523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4271962"/>
            <a:ext cx="385152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8FAFC"/>
                </a:solidFill>
                <a:latin typeface="Plus Jakarta Sans SemiBold"/>
              </a:rPr>
              <a:t>Satisfaction Model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85098" y="2547342"/>
            <a:ext cx="611717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Poppins"/>
              </a:rPr>
              <a:t>Exceptional Predictive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85098" y="3071217"/>
            <a:ext cx="5825876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The dual-model system achieved benchmark results across regression and classification tasks: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9898" y="3741539"/>
            <a:ext cx="5521076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FFFFF"/>
                </a:solidFill>
                <a:latin typeface="Plus Jakarta Sans"/>
              </a:rPr>
              <a:t>Flight Price Engine: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XGBoost Regressor achieved an outstanding </a:t>
            </a:r>
            <a:r>
              <a:rPr sz="1275" b="1" i="0" u="none">
                <a:solidFill>
                  <a:srgbClr val="FFFFFF"/>
                </a:solidFill>
                <a:latin typeface="Plus Jakarta Sans"/>
              </a:rPr>
              <a:t>RMSE of ~₹1,420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9898" y="4430910"/>
            <a:ext cx="5521076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FFFFF"/>
                </a:solidFill>
                <a:latin typeface="Plus Jakarta Sans"/>
              </a:rPr>
              <a:t>Satisfaction Engine: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High F1-Score &amp; Precision minimizing misclassified passenger ratings.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5098" y="3774876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5098" y="4464248"/>
            <a:ext cx="171450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Predictive Model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1025" y="100965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95400"/>
            <a:ext cx="11029950" cy="5076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126384"/>
            <a:ext cx="110299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1" u="none">
                <a:solidFill>
                  <a:srgbClr val="94A3B8"/>
                </a:solidFill>
                <a:latin typeface="Plus Jakarta Sans"/>
              </a:rPr>
              <a:t>Inflight wifi accessibility and flight duration emerge as top drivers influencing price tolerance and overall passenger satisfaction.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Feature Importance Ranking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100965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50058"/>
            <a:ext cx="5324475" cy="19675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50058"/>
            <a:ext cx="5324475" cy="19675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1885" y="3202483"/>
            <a:ext cx="4495249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6B6D4"/>
                </a:solidFill>
                <a:latin typeface="Poppins"/>
              </a:rPr>
              <a:t>Systematic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3688258"/>
            <a:ext cx="461962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Logged hyperparameter grids (learning rate, max depth, estimators) alongside key metric outputs (RMSE, MAE, R², Accuracy, Confusion Matrix) across 50+ experimental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7360" y="3202483"/>
            <a:ext cx="4495249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6B6D4"/>
                </a:solidFill>
                <a:latin typeface="Poppins"/>
              </a:rPr>
              <a:t>Model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688258"/>
            <a:ext cx="461962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Stored best-performing pipeline artifacts seamlessly, enabling instant model reproducibility, version control, and effortless deployment to the Streamlit app layer.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3254871"/>
            <a:ext cx="22413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3254871"/>
            <a:ext cx="22413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MLflow Experiment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100965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24062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5825" y="2799754"/>
            <a:ext cx="50196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FFFFF"/>
                </a:solidFill>
                <a:latin typeface="Plus Jakarta Sans"/>
              </a:rPr>
              <a:t>Dual Prediction Interfaces: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Instant switching between Flight Fare Estimation and Passenger Satisfaction Scoring.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3489126"/>
            <a:ext cx="50196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FFFFF"/>
                </a:solidFill>
                <a:latin typeface="Plus Jakarta Sans"/>
              </a:rPr>
              <a:t>Dynamic Parameter Input: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Select origin, destination, airline, travel class, and service ratings via intuitive sliders.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4178498"/>
            <a:ext cx="50196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FFFFF"/>
                </a:solidFill>
                <a:latin typeface="Plus Jakarta Sans"/>
              </a:rPr>
              <a:t>Real-Time Analytics: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Interactive Plotly graphs displaying price distribution and feature contribution.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33587"/>
            <a:ext cx="5305425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833092"/>
            <a:ext cx="219075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522464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211835"/>
            <a:ext cx="190500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Interactive Streamlit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100965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714625"/>
          <a:ext cx="11010898" cy="2238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5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1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593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6B6D4"/>
                          </a:solidFill>
                          <a:latin typeface="Plus Jakarta Sans"/>
                        </a:rPr>
                        <a:t>Stakeholder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6B6D4"/>
                          </a:solidFill>
                          <a:latin typeface="Plus Jakarta Sans"/>
                        </a:rPr>
                        <a:t>Core Value Delivered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6B6D4"/>
                          </a:solidFill>
                          <a:latin typeface="Plus Jakarta Sans"/>
                        </a:rPr>
                        <a:t>Key Metric / Impact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59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Air Travelers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Fare predictability and optimal booking recommendations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Cost savings on ticket purchases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59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Airlines &amp; Revenue Teams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Competitive dynamic pricing insights &amp; demand signals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Optimized yield per seat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596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Service Operations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Actionable satisfaction drivers (Wifi, Boarding, Delays)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Increased customer retention (+15%)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90550" y="3286125"/>
            <a:ext cx="25250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15567" y="3286125"/>
            <a:ext cx="510182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17396" y="3286125"/>
            <a:ext cx="33840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0550" y="3838575"/>
            <a:ext cx="25250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15567" y="3838575"/>
            <a:ext cx="510182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17396" y="3838575"/>
            <a:ext cx="33840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0550" y="4391025"/>
            <a:ext cx="25250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15567" y="4391025"/>
            <a:ext cx="510182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17396" y="4391025"/>
            <a:ext cx="33840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Business Value &amp; Strategic Impact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" y="100965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52242" y="2193577"/>
            <a:ext cx="7687367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0" i="0" u="none">
                <a:solidFill>
                  <a:srgbClr val="FFFFFF"/>
                </a:solidFill>
                <a:latin typeface="Poppins ExtraBold"/>
              </a:rP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9425" y="3374677"/>
            <a:ext cx="61531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Plus Jakarta Sans"/>
              </a:rPr>
              <a:t>Thank you for viewing the AI Travel Analytics Presentation!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487" y="4121348"/>
            <a:ext cx="5153025" cy="542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71912" y="4283273"/>
            <a:ext cx="1247775" cy="21907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6B6D4"/>
                </a:solidFill>
                <a:latin typeface="Plus Jakarta Sans SemiBold"/>
              </a:rPr>
              <a:t>Ankita Taneja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10187" y="4283273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6B6D4"/>
                </a:solidFill>
                <a:latin typeface="Plus Jakarta Sans SemiBold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67362" y="4283273"/>
            <a:ext cx="2752725" cy="21907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6B6D4"/>
                </a:solidFill>
                <a:latin typeface="Plus Jakarta Sans SemiBold"/>
              </a:rPr>
              <a:t>Streamlit &amp; MLflow Integration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912" y="4321373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362" y="4321373"/>
            <a:ext cx="2190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2661344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025" y="3446115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343659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1025" y="343659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422136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422136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1076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2804219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https://www.popsci.com/wp-content/uploads/2025/08/Singer-and-pianist-Billy-Joel-rests-on-an-airline.png?quality=85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3049934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www.popsci.com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595538"/>
            <a:ext cx="1304925" cy="5179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76400" y="3588990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https://cubcrafters.com/c/wp-content/uploads/2026/07/CC-PRESS-PHOTO-Garmin-AXIS-1-7-8-26-scaled.jpg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3834705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cubcrafters.com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80309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76400" y="4373760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https://png.pngtree.com/png-clipart/20250207/original/pngtree-modern-data-visualization-screen-for-analytics-dashboard-png-image_20373725.png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400" y="4619476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pngtree.com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Image 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100965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683</Words>
  <Application>Microsoft Office PowerPoint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Plus Jakarta Sans</vt:lpstr>
      <vt:lpstr>Plus Jakarta Sans Medium</vt:lpstr>
      <vt:lpstr>Plus Jakarta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Ankita</dc:creator>
  <cp:keywords/>
  <dc:description>generated using python-pptx</dc:description>
  <cp:lastModifiedBy>Ankita taneja</cp:lastModifiedBy>
  <cp:revision>1</cp:revision>
  <dcterms:created xsi:type="dcterms:W3CDTF">2013-01-27T09:14:16Z</dcterms:created>
  <dcterms:modified xsi:type="dcterms:W3CDTF">2026-08-18T11:46:28Z</dcterms:modified>
  <cp:category/>
</cp:coreProperties>
</file>